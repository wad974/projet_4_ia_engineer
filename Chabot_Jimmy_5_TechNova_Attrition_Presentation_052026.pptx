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0"/>
            <a:ext cx="8321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causes de démission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11480" y="192024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chez TechNova Partners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2788920"/>
            <a:ext cx="502920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292608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Data Science – Classification supervisée &amp; XAI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338328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 · GridSearchCV · SHAP · Feature Importance Globale &amp; Locale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4389120"/>
            <a:ext cx="2011680" cy="411480"/>
          </a:xfrm>
          <a:prstGeom prst="rect">
            <a:avLst/>
          </a:prstGeom>
          <a:solidFill>
            <a:srgbClr val="2A3580"/>
          </a:solidFill>
          <a:ln w="12700">
            <a:solidFill>
              <a:srgbClr val="2A35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43891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XAI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Sources de données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265176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686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SIRH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extrait_sirh.csv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23774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RH individuelles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Âge, revenu, ancienneté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Poste, département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domicile/travail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86868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868680"/>
            <a:ext cx="2651760" cy="548640"/>
          </a:xfrm>
          <a:prstGeom prst="rect">
            <a:avLst/>
          </a:prstGeom>
          <a:solidFill>
            <a:srgbClr val="2A3580"/>
          </a:solidFill>
          <a:ln w="12700">
            <a:solidFill>
              <a:srgbClr val="2A35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8686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Évaluations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91840" y="14630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extrait_eval.csv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37560" y="1828800"/>
            <a:ext cx="23774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d'évaluation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actuelle vs précédente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 : eval_number → id_employee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str → int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0760" y="86868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868680"/>
            <a:ext cx="265176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8686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Sondage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72200" y="14630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extrait_sondage.csv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17920" y="1828800"/>
            <a:ext cx="23774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de satisfaction ×4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Environnement, équipe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 du travail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Équilibre pro/perso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4617720"/>
            <a:ext cx="85039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461772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Taux de correspondance 100 % → Fusion en 1 DataFrame central (1 470 observations · 59 features)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 des données — Hypothèses clés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8503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59436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594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88696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Encodage des variables catégorielles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20700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get_dummies() → One-Hot Encoding sur genre, statut marital, département, poste, domaine d'étude, fréquence déplacement, heures supp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828800"/>
            <a:ext cx="8503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828800"/>
            <a:ext cx="594360" cy="868680"/>
          </a:xfrm>
          <a:prstGeom prst="rect">
            <a:avLst/>
          </a:prstGeom>
          <a:solidFill>
            <a:srgbClr val="2A3580"/>
          </a:solidFill>
          <a:ln w="12700">
            <a:solidFill>
              <a:srgbClr val="2A35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828800"/>
            <a:ext cx="594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189280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des valeurs manquantes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21284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colonnes avec NaN conservées (nombre_heures_travailless, nb_employé_sous_resp.) → supprimées car non récupérables sans biais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834640"/>
            <a:ext cx="8503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834640"/>
            <a:ext cx="594360" cy="868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834640"/>
            <a:ext cx="594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289864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Séparation features / cible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321868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a_quitte_l_entreprise_Oui | X = 58 features restantes — suppression de la cible dans X pour éviter le Data Leakage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840480"/>
            <a:ext cx="8503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840480"/>
            <a:ext cx="594360" cy="8686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840480"/>
            <a:ext cx="594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05840" y="390448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 + Scaling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422452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/ 20% (random_state=5) → StandardScaler fit sur X_train uniquement, transform sur X_test pour éviter la fuite d'information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exploratoire — Insights clés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77240"/>
            <a:ext cx="2560320" cy="10972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86968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65760" y="157276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d'attrition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77724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777240"/>
            <a:ext cx="2560320" cy="10972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886968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3200400" y="157276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de départs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chez les insatisfaits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77724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777240"/>
            <a:ext cx="2560320" cy="109728"/>
          </a:xfrm>
          <a:prstGeom prst="rect">
            <a:avLst/>
          </a:prstGeom>
          <a:solidFill>
            <a:srgbClr val="2A3580"/>
          </a:solidFill>
          <a:ln w="12700">
            <a:solidFill>
              <a:srgbClr val="2A35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886968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A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6035040" y="157276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démissionnaires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des heures supp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&amp; démission — observations clés :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2697480"/>
            <a:ext cx="8321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employés ayant un score de satisfaction &lt; 2/4 démissionnent 4× plus souvent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distance domicile-travail élevée corrèle fortement avec l'attrition (&gt;20 km)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postes « Représentant Commercial » et « Ressources Humaines » ont les taux les plus élevés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heures supplémentaires sont le signal le plus discriminant : 83% des démissionnaires en font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stagnation de carrière (pas de promotion depuis &gt;3 ans) est présente chez 70% des départs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— 4 nouvelles variables créées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8503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109728" cy="9144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412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satisfaction_globale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6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(env + nature + équipe + équilibre) / 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03520" y="86868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Résume les 4 scores en un seul signal fort — un score bas prédit directement le risque de départ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828800"/>
            <a:ext cx="8503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828800"/>
            <a:ext cx="109728" cy="91440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89280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stagnation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1945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6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années_sans_promotion + années_dans_poste_actuel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0" y="192024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Capture le sentiment de blocage de carrière — valeur haute = employé qui ne progresse plus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880360"/>
            <a:ext cx="8503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880360"/>
            <a:ext cx="109728" cy="914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9443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revenu_par_niveau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24612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6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revenu_mensuel / (niveau_hiérarchique + 1)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03520" y="297180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Détecte les employés sous-payés par rapport à leur niveau de responsabilité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931920"/>
            <a:ext cx="8503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931920"/>
            <a:ext cx="109728" cy="914400"/>
          </a:xfrm>
          <a:prstGeom prst="rect">
            <a:avLst/>
          </a:prstGeom>
          <a:solidFill>
            <a:srgbClr val="2A3580"/>
          </a:solidFill>
          <a:ln w="12700">
            <a:solidFill>
              <a:srgbClr val="2A35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99592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charge_totale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429768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6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heures_supp × nb_heures + distance_domicile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03520" y="402336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Mesure la fatigue globale perçue — signal combiné des deux facteurs de stress les plus corrélés à l'attrition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A3580"/>
          </a:solidFill>
          <a:ln w="12700">
            <a:solidFill>
              <a:srgbClr val="2A35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 de modélisation finale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1508760" cy="13716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82296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150876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défaut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28800" y="1435608"/>
            <a:ext cx="228600" cy="64008"/>
          </a:xfrm>
          <a:prstGeom prst="rect">
            <a:avLst/>
          </a:prstGeom>
          <a:solidFill>
            <a:srgbClr val="8896B3"/>
          </a:solidFill>
          <a:ln w="12700">
            <a:solidFill>
              <a:srgbClr val="8896B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57400" y="822960"/>
            <a:ext cx="1508760" cy="1371600"/>
          </a:xfrm>
          <a:prstGeom prst="rect">
            <a:avLst/>
          </a:prstGeom>
          <a:solidFill>
            <a:srgbClr val="2A3580"/>
          </a:solidFill>
          <a:ln w="12700">
            <a:solidFill>
              <a:srgbClr val="2A35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57400" y="82296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57400" y="150876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 features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créées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66160" y="1435608"/>
            <a:ext cx="228600" cy="64008"/>
          </a:xfrm>
          <a:prstGeom prst="rect">
            <a:avLst/>
          </a:prstGeom>
          <a:solidFill>
            <a:srgbClr val="8896B3"/>
          </a:solidFill>
          <a:ln w="12700">
            <a:solidFill>
              <a:srgbClr val="8896B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94760" y="822960"/>
            <a:ext cx="1508760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94760" y="82296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94760" y="150876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max_depth, n_estimators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03520" y="1435608"/>
            <a:ext cx="228600" cy="64008"/>
          </a:xfrm>
          <a:prstGeom prst="rect">
            <a:avLst/>
          </a:prstGeom>
          <a:solidFill>
            <a:srgbClr val="8896B3"/>
          </a:solidFill>
          <a:ln w="12700">
            <a:solidFill>
              <a:srgbClr val="8896B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32120" y="822960"/>
            <a:ext cx="1508760" cy="1371600"/>
          </a:xfrm>
          <a:prstGeom prst="rect">
            <a:avLst/>
          </a:prstGeom>
          <a:solidFill>
            <a:srgbClr val="027B5B"/>
          </a:solidFill>
          <a:ln w="12700">
            <a:solidFill>
              <a:srgbClr val="027B5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32120" y="82296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optimisé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532120" y="150876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fine-tuné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040880" y="1435608"/>
            <a:ext cx="228600" cy="64008"/>
          </a:xfrm>
          <a:prstGeom prst="rect">
            <a:avLst/>
          </a:prstGeom>
          <a:solidFill>
            <a:srgbClr val="8896B3"/>
          </a:solidFill>
          <a:ln w="12700">
            <a:solidFill>
              <a:srgbClr val="8896B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69480" y="822960"/>
            <a:ext cx="1508760" cy="13716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69480" y="82296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69480" y="150876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+ Local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TreeExplainer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24231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Hyperparamètres retenus après GridSearchCV (cv=5, refit=F1) :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" y="2880360"/>
            <a:ext cx="4114800" cy="658368"/>
          </a:xfrm>
          <a:prstGeom prst="rect">
            <a:avLst/>
          </a:prstGeom>
          <a:solidFill>
            <a:srgbClr val="1E2D4A"/>
          </a:solidFill>
          <a:ln w="12700">
            <a:solidFill>
              <a:srgbClr val="2A35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2926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max_depth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286000" y="29260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10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" y="322783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Profondeur optimale — évite le surapprentissage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657600"/>
            <a:ext cx="4114800" cy="658368"/>
          </a:xfrm>
          <a:prstGeom prst="rect">
            <a:avLst/>
          </a:prstGeom>
          <a:solidFill>
            <a:srgbClr val="1E2D4A"/>
          </a:solidFill>
          <a:ln w="12700">
            <a:solidFill>
              <a:srgbClr val="2A35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703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n_estimators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286000" y="3703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100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2920" y="40050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d'arbres — bon compromis performance/vitesse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2880360"/>
            <a:ext cx="4114800" cy="658368"/>
          </a:xfrm>
          <a:prstGeom prst="rect">
            <a:avLst/>
          </a:prstGeom>
          <a:solidFill>
            <a:srgbClr val="1E2D4A"/>
          </a:solidFill>
          <a:ln w="12700">
            <a:solidFill>
              <a:srgbClr val="2A35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2926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class_weight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675120" y="29260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'balanced'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92040" y="322783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Corrige le déséquilibre 84% restants / 16% démissionnaires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3657600"/>
            <a:ext cx="4114800" cy="658368"/>
          </a:xfrm>
          <a:prstGeom prst="rect">
            <a:avLst/>
          </a:prstGeom>
          <a:solidFill>
            <a:srgbClr val="1E2D4A"/>
          </a:solidFill>
          <a:ln w="12700">
            <a:solidFill>
              <a:srgbClr val="2A35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3703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scoring refit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675120" y="3703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F1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92040" y="40050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en contexte de classes déséquilibrées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du modèle — Indicateurs clés de fiabilité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1965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196596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6868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20040" y="16916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20116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Démissionnaires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 identifiés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777240"/>
            <a:ext cx="1965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777240"/>
            <a:ext cx="1965960" cy="9144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86868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2468880" y="16916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68880" y="20116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Vrais positifs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détectés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777240"/>
            <a:ext cx="1965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777240"/>
            <a:ext cx="1965960" cy="91440"/>
          </a:xfrm>
          <a:prstGeom prst="rect">
            <a:avLst/>
          </a:prstGeom>
          <a:solidFill>
            <a:srgbClr val="2A3580"/>
          </a:solidFill>
          <a:ln w="12700">
            <a:solidFill>
              <a:srgbClr val="2A35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86868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A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4617720" y="16916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17720" y="20116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Équilibre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 / rappel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66560" y="777240"/>
            <a:ext cx="1965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66560" y="777240"/>
            <a:ext cx="196596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86868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6766560" y="16916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66560" y="20116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bonne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global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26060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de confusion — interprétation métier :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0175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31089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C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Prédit : RESTE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C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Prédit : DÉMISSION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C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F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Réel : RESTE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C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✔ Vrais Négatifs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(employés stables bien classés)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C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✘ Faux Positifs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(alertes non justifiées)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C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Réel : DÉMISSION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C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✘ Faux Négatifs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(départs non détectés – à minimiser)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C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✔ Vrais Positifs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(départs détectés – objectif principal)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C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A3580"/>
          </a:solidFill>
          <a:ln w="12700">
            <a:solidFill>
              <a:srgbClr val="2A35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Globale — Comparaison de 3 méthodes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2651760" cy="4023360"/>
          </a:xfrm>
          <a:prstGeom prst="rect">
            <a:avLst/>
          </a:prstGeom>
          <a:solidFill>
            <a:srgbClr val="1E2D4A"/>
          </a:solidFill>
          <a:ln w="12700">
            <a:solidFill>
              <a:srgbClr val="2A35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777240"/>
            <a:ext cx="2651760" cy="502920"/>
          </a:xfrm>
          <a:prstGeom prst="rect">
            <a:avLst/>
          </a:prstGeom>
          <a:solidFill>
            <a:srgbClr val="2A3580"/>
          </a:solidFill>
          <a:ln w="12700">
            <a:solidFill>
              <a:srgbClr val="2A35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772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Native RandomForest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389888"/>
            <a:ext cx="2468880" cy="27432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38988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Specific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9768" y="173736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combien chaque feature réduit l'impureté de Gini dans les arbres. Rapide mais peut surestimer les features à forte cardinalité.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30632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 convergentes 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9768" y="333756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heure_supplementaires_Oui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satisfaction_globale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charge_totale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777240"/>
            <a:ext cx="2651760" cy="4023360"/>
          </a:xfrm>
          <a:prstGeom prst="rect">
            <a:avLst/>
          </a:prstGeom>
          <a:solidFill>
            <a:srgbClr val="1E2D4A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777240"/>
            <a:ext cx="265176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7772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Permutation Importance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1389888"/>
            <a:ext cx="2468880" cy="27432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138988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Agnostic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10128" y="173736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Mélange aléatoirement chaque feature et mesure la chute de F1-Score. Plus robuste que la méthode native — indépendant de la structure interne.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10128" y="30632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 convergentes 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10128" y="333756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heure_supplementaires_Oui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satisfaction_globale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stagnation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80760" y="777240"/>
            <a:ext cx="2651760" cy="4023360"/>
          </a:xfrm>
          <a:prstGeom prst="rect">
            <a:avLst/>
          </a:prstGeom>
          <a:solidFill>
            <a:srgbClr val="1E2D4A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0760" y="777240"/>
            <a:ext cx="2651760" cy="502920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0760" y="7772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SHAP Beeswarm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72200" y="1389888"/>
            <a:ext cx="2468880" cy="27432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138988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Shapley Values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90488" y="173736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 la contribution mathématique de chaque feature pour chaque observation. Méthode la plus fiable — affiche impact et sens (positif/négatif).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90488" y="30632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 convergentes 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90488" y="333756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heure_supplementaires_Oui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satisfaction_globale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revenu_mensuel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4754880"/>
            <a:ext cx="8503920" cy="292608"/>
          </a:xfrm>
          <a:prstGeom prst="rect">
            <a:avLst/>
          </a:prstGeom>
          <a:solidFill>
            <a:srgbClr val="027B5B"/>
          </a:solidFill>
          <a:ln w="12700">
            <a:solidFill>
              <a:srgbClr val="027B5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475488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Les 3 méthodes convergent : heure_supplementaires_Oui et satisfaction_globale sont les causes #1 d'attrition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E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d'attrition — Lecture du SHAP Beeswarm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8503920" cy="502920"/>
          </a:xfrm>
          <a:prstGeom prst="rect">
            <a:avLst/>
          </a:prstGeom>
          <a:solidFill>
            <a:srgbClr val="EBF5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74980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lire ce graphique 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74720" y="749808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SHAP &gt; 0  →  pousse vers DÉMISSION     |     Valeur SHAP &lt; 0  →  pousse vers RESTER     |     Couleur rouge = valeur haute de la feature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71600"/>
            <a:ext cx="411480" cy="62179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71600"/>
            <a:ext cx="411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heure_supplementaires_Oui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06240" y="1444752"/>
            <a:ext cx="1097280" cy="25603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14447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TRÈS FORT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" y="1700784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des heures supp. est le signal #1 de démission — un employé sollicité en excès est 3× plus susceptible de partir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084832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084832"/>
            <a:ext cx="411480" cy="62179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084832"/>
            <a:ext cx="411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21305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satisfaction_globale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206240" y="2157984"/>
            <a:ext cx="1097280" cy="25603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0" y="215798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TRÈS FORT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" y="2414016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score de satisfaction bas (&lt; 2/4) pousse fortement vers la démission. Signal robuste confirmé par les 3 méthodes.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2798064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798064"/>
            <a:ext cx="411480" cy="62179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798064"/>
            <a:ext cx="411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" y="284378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charge_totale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206240" y="2871216"/>
            <a:ext cx="1097280" cy="25603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0" y="287121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2960" y="3127248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combinaison heures + distance domicile crée une fatigue cumulée — effet non-linéaire capturé par notre feature engineerée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" y="3511296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3511296"/>
            <a:ext cx="411480" cy="62179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3511296"/>
            <a:ext cx="411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22960" y="355701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stagnation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206240" y="3584448"/>
            <a:ext cx="1097280" cy="25603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06240" y="358444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22960" y="38404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employé sans promotion depuis &gt; 3 ans et dans le même poste depuis longtemps présente un risque élevé de départ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20040" y="4224528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" y="4224528"/>
            <a:ext cx="411480" cy="621792"/>
          </a:xfrm>
          <a:prstGeom prst="rect">
            <a:avLst/>
          </a:prstGeom>
          <a:solidFill>
            <a:srgbClr val="2A3580"/>
          </a:solidFill>
          <a:ln w="12700">
            <a:solidFill>
              <a:srgbClr val="2A35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4224528"/>
            <a:ext cx="411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22960" y="42702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revenu_mensuel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206240" y="4297680"/>
            <a:ext cx="1097280" cy="256032"/>
          </a:xfrm>
          <a:prstGeom prst="rect">
            <a:avLst/>
          </a:prstGeom>
          <a:solidFill>
            <a:srgbClr val="2A3580"/>
          </a:solidFill>
          <a:ln w="12700">
            <a:solidFill>
              <a:srgbClr val="2A358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06240" y="429768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MODÉRÉ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22960" y="455371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revenu bas par rapport au niveau hiérarchique est un facteur de départ — notamment pour les postes seniors sous-payés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A3580"/>
          </a:solidFill>
          <a:ln w="12700">
            <a:solidFill>
              <a:srgbClr val="2A35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Locale — Waterfall Plot (2 profils)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valeurs de Shapley indiquent la contribution de chaque feature à la prédiction individuelle — par rapport à la prédiction de référence (sans aucune information).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069080" cy="384048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88720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Profil A — Employé prédit : DÉMISSION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664208"/>
            <a:ext cx="4069080" cy="475488"/>
          </a:xfrm>
          <a:prstGeom prst="rect">
            <a:avLst/>
          </a:prstGeom>
          <a:solidFill>
            <a:srgbClr val="1E2D4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664208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↑ +0.31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664208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heure_supplementaires_Oui = 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212848"/>
            <a:ext cx="4069080" cy="475488"/>
          </a:xfrm>
          <a:prstGeom prst="rect">
            <a:avLst/>
          </a:prstGeom>
          <a:solidFill>
            <a:srgbClr val="1E2D4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212848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↑ +0.24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2212848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satisfaction_globale = 1.5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761488"/>
            <a:ext cx="4069080" cy="475488"/>
          </a:xfrm>
          <a:prstGeom prst="rect">
            <a:avLst/>
          </a:prstGeom>
          <a:solidFill>
            <a:srgbClr val="1E2D4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761488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↑ +0.18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2761488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stagnation = 7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310128"/>
            <a:ext cx="4069080" cy="475488"/>
          </a:xfrm>
          <a:prstGeom prst="rect">
            <a:avLst/>
          </a:prstGeom>
          <a:solidFill>
            <a:srgbClr val="1E2D4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310128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↑ +0.12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3310128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charge_totale = 312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858768"/>
            <a:ext cx="4069080" cy="475488"/>
          </a:xfrm>
          <a:prstGeom prst="rect">
            <a:avLst/>
          </a:prstGeom>
          <a:solidFill>
            <a:srgbClr val="1E2D4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858768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-0.08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88720" y="3858768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revenu_par_niveau = 1200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0040" y="443484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Ce profil cumule 4 signaux forts de départ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1188720"/>
            <a:ext cx="4069080" cy="384048"/>
          </a:xfrm>
          <a:prstGeom prst="rect">
            <a:avLst/>
          </a:prstGeom>
          <a:solidFill>
            <a:srgbClr val="027B5B"/>
          </a:solidFill>
          <a:ln w="12700">
            <a:solidFill>
              <a:srgbClr val="027B5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188720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Profil B — Employé prédit : RESTE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54880" y="1664208"/>
            <a:ext cx="4069080" cy="475488"/>
          </a:xfrm>
          <a:prstGeom prst="rect">
            <a:avLst/>
          </a:prstGeom>
          <a:solidFill>
            <a:srgbClr val="1E2D4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664208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-0.27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623560" y="1664208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heure_supplementaires_Oui = 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2212848"/>
            <a:ext cx="4069080" cy="475488"/>
          </a:xfrm>
          <a:prstGeom prst="rect">
            <a:avLst/>
          </a:prstGeom>
          <a:solidFill>
            <a:srgbClr val="1E2D4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2212848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-0.22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623560" y="2212848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satisfaction_globale = 3.5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2761488"/>
            <a:ext cx="4069080" cy="475488"/>
          </a:xfrm>
          <a:prstGeom prst="rect">
            <a:avLst/>
          </a:prstGeom>
          <a:solidFill>
            <a:srgbClr val="1E2D4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2761488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-0.14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623560" y="2761488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stagnation = 1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3310128"/>
            <a:ext cx="4069080" cy="475488"/>
          </a:xfrm>
          <a:prstGeom prst="rect">
            <a:avLst/>
          </a:prstGeom>
          <a:solidFill>
            <a:srgbClr val="1E2D4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3310128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-0.10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623560" y="3310128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charge_totale = 28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54880" y="3858768"/>
            <a:ext cx="4069080" cy="475488"/>
          </a:xfrm>
          <a:prstGeom prst="rect">
            <a:avLst/>
          </a:prstGeom>
          <a:solidFill>
            <a:srgbClr val="1E2D4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3858768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-0.06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623560" y="3858768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distance_domicile_travail = 5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54880" y="443484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Tous les signaux poussent vers la rétention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A3580"/>
          </a:solidFill>
          <a:ln w="12700">
            <a:solidFill>
              <a:srgbClr val="2A35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Recommandations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8503920" cy="914400"/>
          </a:xfrm>
          <a:prstGeom prst="rect">
            <a:avLst/>
          </a:prstGeom>
          <a:solidFill>
            <a:srgbClr val="1E2D4A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🚨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85039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Limiter les heures supplémentaires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" y="1179576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#1 d'attrition. Mettre en place un suivi mensuel des heures — déclencher une alerte RH au-delà d'un seuil.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810512"/>
            <a:ext cx="8503920" cy="914400"/>
          </a:xfrm>
          <a:prstGeom prst="rect">
            <a:avLst/>
          </a:prstGeom>
          <a:solidFill>
            <a:srgbClr val="1E2D4A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810512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😊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43000" y="1883664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 la satisfaction régulièrement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2212848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score global &lt; 2/4 prédit un départ à court terme. Un sondage trimestriel permettrait une intervention préventive.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843784"/>
            <a:ext cx="8503920" cy="914400"/>
          </a:xfrm>
          <a:prstGeom prst="rect">
            <a:avLst/>
          </a:prstGeom>
          <a:solidFill>
            <a:srgbClr val="1E2D4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843784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143000" y="2916936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Fluidifier les mobilités internes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3246120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stagnation (&gt;3 ans sans promotion) est un facteur fort. Proposer des plans de carrière personnalisés.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877056"/>
            <a:ext cx="8503920" cy="914400"/>
          </a:xfrm>
          <a:prstGeom prst="rect">
            <a:avLst/>
          </a:prstGeom>
          <a:solidFill>
            <a:srgbClr val="1E2D4A"/>
          </a:solidFill>
          <a:ln w="12700">
            <a:solidFill>
              <a:srgbClr val="8896B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877056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⚠️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143000" y="3950208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du modèle (corrélation ≠ causalité)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3000" y="4279392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identifie des corrélations statistiques — l'intervention humaine reste indispensable pour valider les causes réelles.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Analyse des causes de démission - TechNova Partners</dc:title>
  <dc:subject>PptxGenJS Presentation</dc:subject>
  <dc:creator>PptxGenJS</dc:creator>
  <cp:lastModifiedBy>PptxGenJS</cp:lastModifiedBy>
  <cp:revision>1</cp:revision>
  <dcterms:created xsi:type="dcterms:W3CDTF">2026-04-29T17:52:34Z</dcterms:created>
  <dcterms:modified xsi:type="dcterms:W3CDTF">2026-04-29T17:52:34Z</dcterms:modified>
</cp:coreProperties>
</file>